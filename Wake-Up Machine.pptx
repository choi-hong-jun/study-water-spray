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58" r:id="rId5"/>
    <p:sldId id="261" r:id="rId6"/>
    <p:sldId id="262" r:id="rId7"/>
    <p:sldId id="26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66"/>
    <p:restoredTop sz="94681"/>
  </p:normalViewPr>
  <p:slideViewPr>
    <p:cSldViewPr snapToGrid="0">
      <p:cViewPr varScale="1">
        <p:scale>
          <a:sx n="149" d="100"/>
          <a:sy n="149" d="100"/>
        </p:scale>
        <p:origin x="18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3203A-067A-B4F7-1C2E-741B2F7D07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B11995-9E6E-6338-23C4-DE62681D69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1B07AE-0D2A-2840-B620-5A8366C8A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D4EA5-9DC5-354F-85E4-C99C7231CB7A}" type="datetimeFigureOut">
              <a:rPr lang="en-US" smtClean="0"/>
              <a:t>5/17/25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C21C5E-D5DF-C458-E071-D1CC6C8F3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B8F603-FBA6-D105-C686-610CFEE48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F3675-EAB8-C247-96C1-BC511FB6F2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8463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95D7B-B20E-55DA-EBF8-47F891E16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CE5D0-350F-6136-53EA-BBC66A6A7D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E56372-899A-5903-B23A-99C2AA7E5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D4EA5-9DC5-354F-85E4-C99C7231CB7A}" type="datetimeFigureOut">
              <a:rPr lang="en-US" smtClean="0"/>
              <a:t>5/17/25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F67866-27C2-45CA-ED8C-F2D5E7E48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E7EB97-7039-CAB9-2018-D519DD9EC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F3675-EAB8-C247-96C1-BC511FB6F2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737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092F6-705A-742B-4B78-F7439387F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4413F1-CADB-7278-871F-85122598B9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11D632-2BCF-6B3D-D107-6B2B559D9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D4EA5-9DC5-354F-85E4-C99C7231CB7A}" type="datetimeFigureOut">
              <a:rPr lang="en-US" smtClean="0"/>
              <a:t>5/17/25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EEF19D-EEA4-150A-5688-34B7A7295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975763-1BF6-480A-171D-B95344285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F3675-EAB8-C247-96C1-BC511FB6F2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457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E7BF6-01EE-832E-45F2-4D604ABE6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8E8EC5-DFB8-9101-2ED4-371AF40C59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A3022F-7D6F-74C1-040D-41251C84CC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097729-57CD-5F1C-1B58-D831DA9AB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D4EA5-9DC5-354F-85E4-C99C7231CB7A}" type="datetimeFigureOut">
              <a:rPr lang="en-US" smtClean="0"/>
              <a:t>5/17/25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8FEC05-F42F-3444-2F95-FFF420656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D2B610-E983-BA7D-E163-C8694BD39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F3675-EAB8-C247-96C1-BC511FB6F2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9759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A15C5-D9DA-6F1C-545D-54A15C99B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62CDF1-6BE1-1D0C-FEEB-D00D891BC7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FFBA7E-1F62-875E-9692-2DFE868D49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74A4A2-333A-F2FA-D16C-C3BF9065AA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28D6EA-84D7-1F03-3441-8805063425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11BA965-E255-886F-DF6A-35A9B5AA1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D4EA5-9DC5-354F-85E4-C99C7231CB7A}" type="datetimeFigureOut">
              <a:rPr lang="en-US" smtClean="0"/>
              <a:t>5/17/25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E44D2A-5401-3D2A-CFA6-B7F127747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C6044F-919B-2F41-FF14-6F16D2816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F3675-EAB8-C247-96C1-BC511FB6F2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1104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CF309-0E60-1D2C-DFF2-727F8E0F1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1A46B-F019-94AE-A7DB-86FDC9AE8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D4EA5-9DC5-354F-85E4-C99C7231CB7A}" type="datetimeFigureOut">
              <a:rPr lang="en-US" smtClean="0"/>
              <a:t>5/17/25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58E424-D393-CF5A-CF37-54DDB740F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62D2FD-C51C-265D-8172-D1BBC9230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F3675-EAB8-C247-96C1-BC511FB6F2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2076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F47604-D5C4-64FF-4688-89729CF4B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D4EA5-9DC5-354F-85E4-C99C7231CB7A}" type="datetimeFigureOut">
              <a:rPr lang="en-US" smtClean="0"/>
              <a:t>5/17/25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94A560-CCE2-3F74-28AA-3B71D68B9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C5A01B-8207-4B73-5761-CC105DD05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F3675-EAB8-C247-96C1-BC511FB6F2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3432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50E8C-8E1C-9A61-DA38-6B9112A42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908E5E-4A7B-9925-2796-2A0BF7627F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1BE3F3-AD5A-679D-6187-E0371B9238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CD2EE9-356E-9B03-B67A-9DCEC1BC7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D4EA5-9DC5-354F-85E4-C99C7231CB7A}" type="datetimeFigureOut">
              <a:rPr lang="en-US" smtClean="0"/>
              <a:t>5/17/25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3B257F-854B-5EED-B613-1BD742D83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1B6394-B0A9-A3D3-5A34-146F619C1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F3675-EAB8-C247-96C1-BC511FB6F2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7604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AD16-DB56-BCA0-6C94-BE76B8D09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DB9E66-CF96-E575-B28F-1B78786289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D5CA2F-1648-E977-8DF1-D4CC39BCCF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4D3372-7114-559C-0F99-D6120AFC3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D4EA5-9DC5-354F-85E4-C99C7231CB7A}" type="datetimeFigureOut">
              <a:rPr lang="en-US" smtClean="0"/>
              <a:t>5/17/25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57B6FF-477D-ACA6-20EB-90C78D970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73A5AB-AD8A-5135-D8D7-6D88A4A93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F3675-EAB8-C247-96C1-BC511FB6F2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09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9E9AD-F5DE-C3A3-C1D2-CAB6AA66E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D01387-5C14-FBC2-4A23-46AF55282D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8EE8B2-0D42-1EAE-4634-038D5B867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D4EA5-9DC5-354F-85E4-C99C7231CB7A}" type="datetimeFigureOut">
              <a:rPr lang="en-US" smtClean="0"/>
              <a:t>5/17/25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7B6AA-4BB6-6353-ED7E-1CCA60E72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473773-D7CC-DBA1-E81F-8BEF59F89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F3675-EAB8-C247-96C1-BC511FB6F2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4907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B72CB9-A2A3-5F63-55E9-81A2EF49AA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2419D8-3AB3-10F4-CC77-1703ABB2CA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468CEC-8869-D722-0B5B-D1B203E42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D4EA5-9DC5-354F-85E4-C99C7231CB7A}" type="datetimeFigureOut">
              <a:rPr lang="en-US" smtClean="0"/>
              <a:t>5/17/25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7B5BC4-924C-808D-9B92-60492C82F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0E01C2-8528-ACD9-89E2-1BFBB5814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F3675-EAB8-C247-96C1-BC511FB6F2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3945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3E74CE-2E6D-0686-080A-DE2A56AF14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79B1CA-609A-3C15-63E4-87AE8E7695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DE9132-2470-E4AA-623F-EFA4F24B2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1D4EA5-9DC5-354F-85E4-C99C7231CB7A}" type="datetimeFigureOut">
              <a:rPr lang="en-US" smtClean="0"/>
              <a:t>5/17/25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FEB848-4640-6BDB-9F69-C0AB8D04C9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7B243A-298D-6047-791E-DB288F0DDF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EF3675-EAB8-C247-96C1-BC511FB6F2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7373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0F6C69-D67E-9A0B-A1D1-E9797B541CA4}"/>
              </a:ext>
            </a:extLst>
          </p:cNvPr>
          <p:cNvSpPr txBox="1"/>
          <p:nvPr/>
        </p:nvSpPr>
        <p:spPr>
          <a:xfrm>
            <a:off x="890338" y="640080"/>
            <a:ext cx="3734014" cy="35661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b="1" i="1" dirty="0">
                <a:latin typeface="+mj-lt"/>
                <a:ea typeface="+mj-ea"/>
                <a:cs typeface="+mj-cs"/>
              </a:rPr>
              <a:t>Wake-Up Machine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B53B20-F5FC-8C79-01EC-8346944A1751}"/>
              </a:ext>
            </a:extLst>
          </p:cNvPr>
          <p:cNvSpPr txBox="1"/>
          <p:nvPr/>
        </p:nvSpPr>
        <p:spPr>
          <a:xfrm>
            <a:off x="890339" y="4636008"/>
            <a:ext cx="3734014" cy="15727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400" b="1" dirty="0"/>
              <a:t>RJ, Ken, Keito, Harry</a:t>
            </a:r>
          </a:p>
        </p:txBody>
      </p:sp>
      <p:sp>
        <p:nvSpPr>
          <p:cNvPr id="22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0338" y="4409267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white box with a black screen and a black text on it&#10;&#10;AI-generated content may be incorrect.">
            <a:extLst>
              <a:ext uri="{FF2B5EF4-FFF2-40B4-BE49-F238E27FC236}">
                <a16:creationId xmlns:a16="http://schemas.microsoft.com/office/drawing/2014/main" id="{8D77E1EB-64BB-F8EB-DCA4-5B3A52609B4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02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7111700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917866-96DF-908D-FD8A-02FAA029DB59}"/>
              </a:ext>
            </a:extLst>
          </p:cNvPr>
          <p:cNvSpPr txBox="1"/>
          <p:nvPr/>
        </p:nvSpPr>
        <p:spPr>
          <a:xfrm>
            <a:off x="7085532" y="640080"/>
            <a:ext cx="4196932" cy="35661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b="1" i="1">
                <a:latin typeface="+mj-lt"/>
                <a:ea typeface="+mj-ea"/>
                <a:cs typeface="+mj-cs"/>
              </a:rPr>
              <a:t>Problem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912EDC-F255-835E-1863-2FF5921A23CA}"/>
              </a:ext>
            </a:extLst>
          </p:cNvPr>
          <p:cNvSpPr txBox="1"/>
          <p:nvPr/>
        </p:nvSpPr>
        <p:spPr>
          <a:xfrm>
            <a:off x="7083831" y="4636008"/>
            <a:ext cx="4198634" cy="15727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400" dirty="0">
                <a:latin typeface="Aharoni" panose="02010803020104030203" pitchFamily="2" charset="-79"/>
                <a:cs typeface="Aharoni" panose="02010803020104030203" pitchFamily="2" charset="-79"/>
              </a:rPr>
              <a:t>Staying focused while studying is hard, especially when you’re sleepy.</a:t>
            </a:r>
          </a:p>
        </p:txBody>
      </p:sp>
      <p:pic>
        <p:nvPicPr>
          <p:cNvPr id="7" name="Picture 6" descr="A person sleeping on a book&#10;&#10;AI-generated content may be incorrect.">
            <a:extLst>
              <a:ext uri="{FF2B5EF4-FFF2-40B4-BE49-F238E27FC236}">
                <a16:creationId xmlns:a16="http://schemas.microsoft.com/office/drawing/2014/main" id="{08B6A687-C62E-4EAA-3C17-03837DFBDD5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442" r="3284"/>
          <a:stretch>
            <a:fillRect/>
          </a:stretch>
        </p:blipFill>
        <p:spPr>
          <a:xfrm>
            <a:off x="866691" y="1216968"/>
            <a:ext cx="5416261" cy="4424065"/>
          </a:xfrm>
          <a:custGeom>
            <a:avLst/>
            <a:gdLst/>
            <a:ahLst/>
            <a:cxnLst/>
            <a:rect l="l" t="t" r="r" b="b"/>
            <a:pathLst>
              <a:path w="5531320" h="4424065">
                <a:moveTo>
                  <a:pt x="4292328" y="3931444"/>
                </a:moveTo>
                <a:cubicBezTo>
                  <a:pt x="3830135" y="4131325"/>
                  <a:pt x="3346708" y="4259111"/>
                  <a:pt x="2855653" y="4364392"/>
                </a:cubicBezTo>
                <a:lnTo>
                  <a:pt x="2855525" y="4364392"/>
                </a:lnTo>
                <a:cubicBezTo>
                  <a:pt x="3386634" y="4394018"/>
                  <a:pt x="3853531" y="4210158"/>
                  <a:pt x="4292328" y="3931444"/>
                </a:cubicBezTo>
                <a:close/>
                <a:moveTo>
                  <a:pt x="4302118" y="3923561"/>
                </a:moveTo>
                <a:lnTo>
                  <a:pt x="4301102" y="3924959"/>
                </a:lnTo>
                <a:lnTo>
                  <a:pt x="4302881" y="3924959"/>
                </a:lnTo>
                <a:close/>
                <a:moveTo>
                  <a:pt x="3885572" y="334733"/>
                </a:moveTo>
                <a:cubicBezTo>
                  <a:pt x="4046889" y="406840"/>
                  <a:pt x="4203653" y="488713"/>
                  <a:pt x="4355013" y="579880"/>
                </a:cubicBezTo>
                <a:cubicBezTo>
                  <a:pt x="4662082" y="768063"/>
                  <a:pt x="4933803" y="995790"/>
                  <a:pt x="5144619" y="1290779"/>
                </a:cubicBezTo>
                <a:cubicBezTo>
                  <a:pt x="5314365" y="1528042"/>
                  <a:pt x="5426258" y="1789591"/>
                  <a:pt x="5468598" y="2088522"/>
                </a:cubicBezTo>
                <a:cubicBezTo>
                  <a:pt x="5479330" y="2001424"/>
                  <a:pt x="5480182" y="1913385"/>
                  <a:pt x="5471141" y="1826083"/>
                </a:cubicBezTo>
                <a:cubicBezTo>
                  <a:pt x="5455337" y="1662962"/>
                  <a:pt x="5406307" y="1504799"/>
                  <a:pt x="5327080" y="1361348"/>
                </a:cubicBezTo>
                <a:cubicBezTo>
                  <a:pt x="5206160" y="1140233"/>
                  <a:pt x="5033362" y="965782"/>
                  <a:pt x="4833354" y="816507"/>
                </a:cubicBezTo>
                <a:cubicBezTo>
                  <a:pt x="4597235" y="640276"/>
                  <a:pt x="4336322" y="509438"/>
                  <a:pt x="4063457" y="400724"/>
                </a:cubicBezTo>
                <a:cubicBezTo>
                  <a:pt x="4033360" y="388607"/>
                  <a:pt x="4003060" y="376909"/>
                  <a:pt x="3972544" y="365631"/>
                </a:cubicBezTo>
                <a:cubicBezTo>
                  <a:pt x="3943680" y="354950"/>
                  <a:pt x="3914563" y="345033"/>
                  <a:pt x="3885572" y="334733"/>
                </a:cubicBezTo>
                <a:close/>
                <a:moveTo>
                  <a:pt x="3865737" y="329520"/>
                </a:moveTo>
                <a:cubicBezTo>
                  <a:pt x="3865737" y="329520"/>
                  <a:pt x="3865737" y="330410"/>
                  <a:pt x="3866500" y="330537"/>
                </a:cubicBezTo>
                <a:lnTo>
                  <a:pt x="3869806" y="330156"/>
                </a:lnTo>
                <a:close/>
                <a:moveTo>
                  <a:pt x="2219772" y="85645"/>
                </a:moveTo>
                <a:cubicBezTo>
                  <a:pt x="2206943" y="84005"/>
                  <a:pt x="2193910" y="85264"/>
                  <a:pt x="2181627" y="89333"/>
                </a:cubicBezTo>
                <a:cubicBezTo>
                  <a:pt x="1932920" y="125113"/>
                  <a:pt x="1690800" y="197118"/>
                  <a:pt x="1462972" y="303073"/>
                </a:cubicBezTo>
                <a:cubicBezTo>
                  <a:pt x="971789" y="529528"/>
                  <a:pt x="578130" y="865460"/>
                  <a:pt x="308698" y="1338461"/>
                </a:cubicBezTo>
                <a:cubicBezTo>
                  <a:pt x="180225" y="1561852"/>
                  <a:pt x="97653" y="1808638"/>
                  <a:pt x="65840" y="2064364"/>
                </a:cubicBezTo>
                <a:cubicBezTo>
                  <a:pt x="71943" y="2050505"/>
                  <a:pt x="77284" y="2036391"/>
                  <a:pt x="82115" y="2022150"/>
                </a:cubicBezTo>
                <a:cubicBezTo>
                  <a:pt x="170104" y="1763653"/>
                  <a:pt x="279580" y="1515073"/>
                  <a:pt x="423261" y="1282260"/>
                </a:cubicBezTo>
                <a:cubicBezTo>
                  <a:pt x="630770" y="945565"/>
                  <a:pt x="895371" y="664944"/>
                  <a:pt x="1231812" y="454001"/>
                </a:cubicBezTo>
                <a:cubicBezTo>
                  <a:pt x="1535193" y="263783"/>
                  <a:pt x="1866802" y="149729"/>
                  <a:pt x="2219772" y="85645"/>
                </a:cubicBezTo>
                <a:close/>
                <a:moveTo>
                  <a:pt x="2612541" y="836"/>
                </a:moveTo>
                <a:cubicBezTo>
                  <a:pt x="2715914" y="-4250"/>
                  <a:pt x="2831240" y="14695"/>
                  <a:pt x="2946311" y="35548"/>
                </a:cubicBezTo>
                <a:cubicBezTo>
                  <a:pt x="3291652" y="98106"/>
                  <a:pt x="3631144" y="182915"/>
                  <a:pt x="3961100" y="303581"/>
                </a:cubicBezTo>
                <a:cubicBezTo>
                  <a:pt x="4278341" y="419543"/>
                  <a:pt x="4581341" y="563350"/>
                  <a:pt x="4854588" y="764502"/>
                </a:cubicBezTo>
                <a:cubicBezTo>
                  <a:pt x="5067438" y="921152"/>
                  <a:pt x="5250408" y="1105521"/>
                  <a:pt x="5377813" y="1339732"/>
                </a:cubicBezTo>
                <a:cubicBezTo>
                  <a:pt x="5459812" y="1489986"/>
                  <a:pt x="5510304" y="1655396"/>
                  <a:pt x="5526198" y="1825829"/>
                </a:cubicBezTo>
                <a:cubicBezTo>
                  <a:pt x="5538277" y="1951327"/>
                  <a:pt x="5527342" y="2074917"/>
                  <a:pt x="5510558" y="2199398"/>
                </a:cubicBezTo>
                <a:cubicBezTo>
                  <a:pt x="5502967" y="2266991"/>
                  <a:pt x="5502713" y="2335195"/>
                  <a:pt x="5509796" y="2402839"/>
                </a:cubicBezTo>
                <a:cubicBezTo>
                  <a:pt x="5534208" y="2664197"/>
                  <a:pt x="5468472" y="2926051"/>
                  <a:pt x="5323520" y="3144890"/>
                </a:cubicBezTo>
                <a:cubicBezTo>
                  <a:pt x="5201340" y="3332234"/>
                  <a:pt x="5041042" y="3491719"/>
                  <a:pt x="4853062" y="3612932"/>
                </a:cubicBezTo>
                <a:cubicBezTo>
                  <a:pt x="4671110" y="3732072"/>
                  <a:pt x="4498566" y="3864563"/>
                  <a:pt x="4316359" y="3982940"/>
                </a:cubicBezTo>
                <a:cubicBezTo>
                  <a:pt x="4019717" y="4175573"/>
                  <a:pt x="3701077" y="4317347"/>
                  <a:pt x="3352557" y="4386771"/>
                </a:cubicBezTo>
                <a:cubicBezTo>
                  <a:pt x="3160954" y="4425590"/>
                  <a:pt x="2964456" y="4434173"/>
                  <a:pt x="2770207" y="4412201"/>
                </a:cubicBezTo>
                <a:cubicBezTo>
                  <a:pt x="2685525" y="4402537"/>
                  <a:pt x="2599953" y="4402410"/>
                  <a:pt x="2514889" y="4393637"/>
                </a:cubicBezTo>
                <a:cubicBezTo>
                  <a:pt x="2307137" y="4370851"/>
                  <a:pt x="2102209" y="4327277"/>
                  <a:pt x="1903167" y="4263562"/>
                </a:cubicBezTo>
                <a:cubicBezTo>
                  <a:pt x="1560623" y="4156119"/>
                  <a:pt x="1238932" y="4006972"/>
                  <a:pt x="948393" y="3794249"/>
                </a:cubicBezTo>
                <a:cubicBezTo>
                  <a:pt x="647554" y="3573897"/>
                  <a:pt x="396813" y="3308660"/>
                  <a:pt x="223634" y="2975526"/>
                </a:cubicBezTo>
                <a:cubicBezTo>
                  <a:pt x="129454" y="2796370"/>
                  <a:pt x="67150" y="2602198"/>
                  <a:pt x="39520" y="2401695"/>
                </a:cubicBezTo>
                <a:cubicBezTo>
                  <a:pt x="34510" y="2367555"/>
                  <a:pt x="26729" y="2333872"/>
                  <a:pt x="16252" y="2300991"/>
                </a:cubicBezTo>
                <a:cubicBezTo>
                  <a:pt x="-9179" y="2218598"/>
                  <a:pt x="-24" y="2135695"/>
                  <a:pt x="11801" y="2053556"/>
                </a:cubicBezTo>
                <a:cubicBezTo>
                  <a:pt x="93686" y="1480615"/>
                  <a:pt x="377868" y="1021983"/>
                  <a:pt x="812850" y="651084"/>
                </a:cubicBezTo>
                <a:cubicBezTo>
                  <a:pt x="1176755" y="340201"/>
                  <a:pt x="1598260" y="146042"/>
                  <a:pt x="2066810" y="52586"/>
                </a:cubicBezTo>
                <a:cubicBezTo>
                  <a:pt x="2154544" y="35039"/>
                  <a:pt x="2243041" y="23087"/>
                  <a:pt x="2332046" y="14441"/>
                </a:cubicBezTo>
                <a:cubicBezTo>
                  <a:pt x="2421052" y="5794"/>
                  <a:pt x="2508913" y="2107"/>
                  <a:pt x="2612541" y="836"/>
                </a:cubicBezTo>
                <a:close/>
              </a:path>
            </a:pathLst>
          </a:custGeom>
        </p:spPr>
      </p:pic>
      <p:sp>
        <p:nvSpPr>
          <p:cNvPr id="21" name="sketchy line">
            <a:extLst>
              <a:ext uri="{FF2B5EF4-FFF2-40B4-BE49-F238E27FC236}">
                <a16:creationId xmlns:a16="http://schemas.microsoft.com/office/drawing/2014/main" id="{3F9B0603-37C5-4312-AE4D-A3D0154754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85532" y="4409267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397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B6ECEE03-918F-43ED-A7B3-F1BDE3FCE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137C33-0705-B60F-36F4-D509CE10323B}"/>
              </a:ext>
            </a:extLst>
          </p:cNvPr>
          <p:cNvSpPr txBox="1"/>
          <p:nvPr/>
        </p:nvSpPr>
        <p:spPr>
          <a:xfrm>
            <a:off x="838200" y="400051"/>
            <a:ext cx="10515600" cy="127023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600" b="1" i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Solutions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7DA103-5257-DE72-36A6-5801F47CA5C5}"/>
              </a:ext>
            </a:extLst>
          </p:cNvPr>
          <p:cNvSpPr txBox="1"/>
          <p:nvPr/>
        </p:nvSpPr>
        <p:spPr>
          <a:xfrm>
            <a:off x="838200" y="2131338"/>
            <a:ext cx="10515600" cy="6474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2400" kern="1200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Detects if the user is present</a:t>
            </a:r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010B55F0-C448-403A-8231-AD42A7BA27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2682" y="1661139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0B82B7-AE31-221B-7747-DE6D7E26B8D4}"/>
              </a:ext>
            </a:extLst>
          </p:cNvPr>
          <p:cNvSpPr txBox="1"/>
          <p:nvPr/>
        </p:nvSpPr>
        <p:spPr>
          <a:xfrm>
            <a:off x="2379203" y="3114174"/>
            <a:ext cx="77732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2400" dirty="0">
                <a:latin typeface="Aharoni" panose="02010803020104030203" pitchFamily="2" charset="-79"/>
                <a:cs typeface="Aharoni" panose="02010803020104030203" pitchFamily="2" charset="-79"/>
              </a:rPr>
              <a:t>Asks, “Are you sleeping?” when the eyes are closed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2B9632-B06D-D802-6C4F-58A5B7D919F4}"/>
              </a:ext>
            </a:extLst>
          </p:cNvPr>
          <p:cNvSpPr txBox="1"/>
          <p:nvPr/>
        </p:nvSpPr>
        <p:spPr>
          <a:xfrm>
            <a:off x="1944782" y="4158480"/>
            <a:ext cx="86421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2400" dirty="0">
                <a:latin typeface="Aharoni" panose="02010803020104030203" pitchFamily="2" charset="-79"/>
                <a:cs typeface="Aharoni" panose="02010803020104030203" pitchFamily="2" charset="-79"/>
              </a:rPr>
              <a:t>If no response in 1 minute, it sprays water to wake you up</a:t>
            </a:r>
          </a:p>
        </p:txBody>
      </p:sp>
    </p:spTree>
    <p:extLst>
      <p:ext uri="{BB962C8B-B14F-4D97-AF65-F5344CB8AC3E}">
        <p14:creationId xmlns:p14="http://schemas.microsoft.com/office/powerpoint/2010/main" val="2258334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8A94871E-96FC-4ADE-815B-41A636E34F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66B8B5-72A2-F6D0-FD7C-441A981FD5C5}"/>
              </a:ext>
            </a:extLst>
          </p:cNvPr>
          <p:cNvSpPr txBox="1"/>
          <p:nvPr/>
        </p:nvSpPr>
        <p:spPr>
          <a:xfrm>
            <a:off x="640080" y="320040"/>
            <a:ext cx="6692827" cy="38926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600" b="1" i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Key Features</a:t>
            </a:r>
          </a:p>
        </p:txBody>
      </p:sp>
      <p:sp>
        <p:nvSpPr>
          <p:cNvPr id="53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4562" y="440926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563791 w 4243589"/>
              <a:gd name="connsiteY1" fmla="*/ 0 h 18288"/>
              <a:gd name="connsiteX2" fmla="*/ 1042710 w 4243589"/>
              <a:gd name="connsiteY2" fmla="*/ 0 h 18288"/>
              <a:gd name="connsiteX3" fmla="*/ 1564066 w 4243589"/>
              <a:gd name="connsiteY3" fmla="*/ 0 h 18288"/>
              <a:gd name="connsiteX4" fmla="*/ 2212729 w 4243589"/>
              <a:gd name="connsiteY4" fmla="*/ 0 h 18288"/>
              <a:gd name="connsiteX5" fmla="*/ 2776520 w 4243589"/>
              <a:gd name="connsiteY5" fmla="*/ 0 h 18288"/>
              <a:gd name="connsiteX6" fmla="*/ 3297875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637362 w 4243589"/>
              <a:gd name="connsiteY9" fmla="*/ 18288 h 18288"/>
              <a:gd name="connsiteX10" fmla="*/ 3116007 w 4243589"/>
              <a:gd name="connsiteY10" fmla="*/ 18288 h 18288"/>
              <a:gd name="connsiteX11" fmla="*/ 2424908 w 4243589"/>
              <a:gd name="connsiteY11" fmla="*/ 18288 h 18288"/>
              <a:gd name="connsiteX12" fmla="*/ 1861117 w 4243589"/>
              <a:gd name="connsiteY12" fmla="*/ 18288 h 18288"/>
              <a:gd name="connsiteX13" fmla="*/ 1382198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" name="Picture 26" descr="A white box with a black screen and a black text on it&#10;&#10;AI-generated content may be incorrect.">
            <a:extLst>
              <a:ext uri="{FF2B5EF4-FFF2-40B4-BE49-F238E27FC236}">
                <a16:creationId xmlns:a16="http://schemas.microsoft.com/office/drawing/2014/main" id="{821B9E19-85B1-23AD-5306-7F120BA101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2883" y="837793"/>
            <a:ext cx="4895235" cy="4895235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EECBA64F-1981-4BB1-8E18-D179625AFC04}"/>
              </a:ext>
            </a:extLst>
          </p:cNvPr>
          <p:cNvSpPr txBox="1"/>
          <p:nvPr/>
        </p:nvSpPr>
        <p:spPr>
          <a:xfrm>
            <a:off x="5394717" y="1361730"/>
            <a:ext cx="12715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haroni" panose="02010803020104030203" pitchFamily="2" charset="-79"/>
                <a:cs typeface="Aharoni" panose="02010803020104030203" pitchFamily="2" charset="-79"/>
              </a:rPr>
              <a:t>camera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DEEB711-B63E-2A2D-1D7B-41455206A347}"/>
              </a:ext>
            </a:extLst>
          </p:cNvPr>
          <p:cNvCxnSpPr/>
          <p:nvPr/>
        </p:nvCxnSpPr>
        <p:spPr>
          <a:xfrm>
            <a:off x="6714309" y="1611086"/>
            <a:ext cx="1193074" cy="3918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1DB4F950-860F-7A5F-F13A-61F99916149D}"/>
              </a:ext>
            </a:extLst>
          </p:cNvPr>
          <p:cNvSpPr txBox="1"/>
          <p:nvPr/>
        </p:nvSpPr>
        <p:spPr>
          <a:xfrm>
            <a:off x="9644378" y="837793"/>
            <a:ext cx="19768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haroni" panose="02010803020104030203" pitchFamily="2" charset="-79"/>
                <a:cs typeface="Aharoni" panose="02010803020104030203" pitchFamily="2" charset="-79"/>
              </a:rPr>
              <a:t>water spray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6B108B22-1188-5E48-F242-9B881EE6F90B}"/>
              </a:ext>
            </a:extLst>
          </p:cNvPr>
          <p:cNvCxnSpPr>
            <a:stCxn id="34" idx="1"/>
          </p:cNvCxnSpPr>
          <p:nvPr/>
        </p:nvCxnSpPr>
        <p:spPr>
          <a:xfrm flipH="1">
            <a:off x="9426663" y="1068626"/>
            <a:ext cx="217715" cy="6089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E10C0328-B0F0-5D47-E8C4-9EDA2DC50D67}"/>
              </a:ext>
            </a:extLst>
          </p:cNvPr>
          <p:cNvSpPr txBox="1"/>
          <p:nvPr/>
        </p:nvSpPr>
        <p:spPr>
          <a:xfrm>
            <a:off x="8692324" y="5901332"/>
            <a:ext cx="13740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haroni" panose="02010803020104030203" pitchFamily="2" charset="-79"/>
                <a:cs typeface="Aharoni" panose="02010803020104030203" pitchFamily="2" charset="-79"/>
              </a:rPr>
              <a:t>speaker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F63A9D65-7943-3755-F473-7318C872B15D}"/>
              </a:ext>
            </a:extLst>
          </p:cNvPr>
          <p:cNvCxnSpPr>
            <a:cxnSpLocks/>
            <a:stCxn id="38" idx="1"/>
          </p:cNvCxnSpPr>
          <p:nvPr/>
        </p:nvCxnSpPr>
        <p:spPr>
          <a:xfrm flipV="1">
            <a:off x="8692324" y="4901609"/>
            <a:ext cx="122067" cy="12305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9792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4" grpId="0"/>
      <p:bldP spid="3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45893C-2537-8AA0-78F7-AA7A63486E8E}"/>
              </a:ext>
            </a:extLst>
          </p:cNvPr>
          <p:cNvSpPr txBox="1"/>
          <p:nvPr/>
        </p:nvSpPr>
        <p:spPr>
          <a:xfrm>
            <a:off x="841248" y="548640"/>
            <a:ext cx="3600860" cy="54315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b="1" i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Demo Flow</a:t>
            </a:r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0DFD54-12A8-315B-BD04-F5D591238D1C}"/>
              </a:ext>
            </a:extLst>
          </p:cNvPr>
          <p:cNvSpPr txBox="1"/>
          <p:nvPr/>
        </p:nvSpPr>
        <p:spPr>
          <a:xfrm>
            <a:off x="5126418" y="552091"/>
            <a:ext cx="6224335" cy="54315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71500" indent="-457200">
              <a:lnSpc>
                <a:spcPct val="9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sz="2400" dirty="0">
                <a:latin typeface="Aharoni" panose="02010803020104030203" pitchFamily="2" charset="-79"/>
                <a:cs typeface="Aharoni" panose="02010803020104030203" pitchFamily="2" charset="-79"/>
              </a:rPr>
              <a:t>Detects user is present by camera (OpenCV)</a:t>
            </a:r>
          </a:p>
          <a:p>
            <a:pPr marL="571500" indent="-457200">
              <a:lnSpc>
                <a:spcPct val="90000"/>
              </a:lnSpc>
              <a:spcAft>
                <a:spcPts val="600"/>
              </a:spcAft>
              <a:buFont typeface="+mj-lt"/>
              <a:buAutoNum type="arabicPeriod"/>
            </a:pPr>
            <a:endParaRPr lang="en-US" sz="2400" dirty="0"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571500" indent="-457200">
              <a:lnSpc>
                <a:spcPct val="9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sz="2400" dirty="0">
                <a:latin typeface="Aharoni" panose="02010803020104030203" pitchFamily="2" charset="-79"/>
                <a:cs typeface="Aharoni" panose="02010803020104030203" pitchFamily="2" charset="-79"/>
              </a:rPr>
              <a:t>Asks “Are you sleeping” (TTS) when the user’s eyes are closed</a:t>
            </a:r>
          </a:p>
          <a:p>
            <a:pPr marL="571500" indent="-457200">
              <a:lnSpc>
                <a:spcPct val="90000"/>
              </a:lnSpc>
              <a:spcAft>
                <a:spcPts val="600"/>
              </a:spcAft>
              <a:buFont typeface="+mj-lt"/>
              <a:buAutoNum type="arabicPeriod"/>
            </a:pPr>
            <a:endParaRPr lang="en-US" sz="2400" dirty="0"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571500" indent="-457200">
              <a:lnSpc>
                <a:spcPct val="9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sz="2400" dirty="0">
                <a:latin typeface="Aharoni" panose="02010803020104030203" pitchFamily="2" charset="-79"/>
                <a:cs typeface="Aharoni" panose="02010803020104030203" pitchFamily="2" charset="-79"/>
              </a:rPr>
              <a:t>Waits for a minute</a:t>
            </a:r>
          </a:p>
          <a:p>
            <a:pPr marL="571500" indent="-457200">
              <a:lnSpc>
                <a:spcPct val="90000"/>
              </a:lnSpc>
              <a:spcAft>
                <a:spcPts val="600"/>
              </a:spcAft>
              <a:buFont typeface="+mj-lt"/>
              <a:buAutoNum type="arabicPeriod"/>
            </a:pPr>
            <a:endParaRPr lang="en-US" sz="2400" dirty="0"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571500" indent="-457200">
              <a:lnSpc>
                <a:spcPct val="9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sz="2400" dirty="0">
                <a:latin typeface="Aharoni" panose="02010803020104030203" pitchFamily="2" charset="-79"/>
                <a:cs typeface="Aharoni" panose="02010803020104030203" pitchFamily="2" charset="-79"/>
              </a:rPr>
              <a:t>If no response, sprays water so that user can focus on studying</a:t>
            </a:r>
          </a:p>
        </p:txBody>
      </p:sp>
      <p:pic>
        <p:nvPicPr>
          <p:cNvPr id="3" name="Picture 2" descr="A screenshot of a person giving a thumbs up&#10;&#10;AI-generated content may be incorrect.">
            <a:extLst>
              <a:ext uri="{FF2B5EF4-FFF2-40B4-BE49-F238E27FC236}">
                <a16:creationId xmlns:a16="http://schemas.microsoft.com/office/drawing/2014/main" id="{BCB51B50-1CAA-D6C3-5843-66B843DE8F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5700" y="1265275"/>
            <a:ext cx="1379363" cy="1121882"/>
          </a:xfrm>
          <a:prstGeom prst="rect">
            <a:avLst/>
          </a:prstGeom>
        </p:spPr>
      </p:pic>
      <p:pic>
        <p:nvPicPr>
          <p:cNvPr id="7" name="Picture 6" descr="A close-up of a spray&#10;&#10;AI-generated content may be incorrect.">
            <a:extLst>
              <a:ext uri="{FF2B5EF4-FFF2-40B4-BE49-F238E27FC236}">
                <a16:creationId xmlns:a16="http://schemas.microsoft.com/office/drawing/2014/main" id="{28C3740A-65FC-EE91-5D01-1BAB0A9438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2281" y="5328614"/>
            <a:ext cx="1943100" cy="1092200"/>
          </a:xfrm>
          <a:prstGeom prst="rect">
            <a:avLst/>
          </a:prstGeom>
        </p:spPr>
      </p:pic>
      <p:pic>
        <p:nvPicPr>
          <p:cNvPr id="9" name="Picture 8" descr="Close-up of a person's eyes closed&#10;&#10;AI-generated content may be incorrect.">
            <a:extLst>
              <a:ext uri="{FF2B5EF4-FFF2-40B4-BE49-F238E27FC236}">
                <a16:creationId xmlns:a16="http://schemas.microsoft.com/office/drawing/2014/main" id="{75922260-B1F5-2FB1-5CC1-EAEEAAE4A7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74158" y="2939248"/>
            <a:ext cx="1854200" cy="10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093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E894BB-CA1A-CBAD-BBFF-63DFA658D577}"/>
              </a:ext>
            </a:extLst>
          </p:cNvPr>
          <p:cNvSpPr txBox="1"/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Tech Stack</a:t>
            </a:r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FF45E3-70EF-5603-12B1-1FD01A6EA806}"/>
              </a:ext>
            </a:extLst>
          </p:cNvPr>
          <p:cNvSpPr txBox="1"/>
          <p:nvPr/>
        </p:nvSpPr>
        <p:spPr>
          <a:xfrm>
            <a:off x="838200" y="1929384"/>
            <a:ext cx="10515600" cy="42519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haroni" panose="02010803020104030203" pitchFamily="2" charset="-79"/>
                <a:cs typeface="Aharoni" panose="02010803020104030203" pitchFamily="2" charset="-79"/>
              </a:rPr>
              <a:t>OpenCV : Recognizes the face and eyes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haroni" panose="02010803020104030203" pitchFamily="2" charset="-79"/>
                <a:cs typeface="Aharoni" panose="02010803020104030203" pitchFamily="2" charset="-79"/>
              </a:rPr>
              <a:t>TTS : Asks user is sleeping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haroni" panose="02010803020104030203" pitchFamily="2" charset="-79"/>
                <a:cs typeface="Aharoni" panose="02010803020104030203" pitchFamily="2" charset="-79"/>
              </a:rPr>
              <a:t>Timer: Check the eyes are closed, and set 1 minutes to check response 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24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641159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84B8CB-2DED-2B27-852A-D8BFE4426632}"/>
              </a:ext>
            </a:extLst>
          </p:cNvPr>
          <p:cNvSpPr txBox="1"/>
          <p:nvPr/>
        </p:nvSpPr>
        <p:spPr>
          <a:xfrm>
            <a:off x="838200" y="451381"/>
            <a:ext cx="10512552" cy="406654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600" b="1" i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 You!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18595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2012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137</Words>
  <Application>Microsoft Macintosh PowerPoint</Application>
  <PresentationFormat>Widescreen</PresentationFormat>
  <Paragraphs>27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Aharoni</vt:lpstr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홍준 최</dc:creator>
  <cp:lastModifiedBy>홍준 최</cp:lastModifiedBy>
  <cp:revision>11</cp:revision>
  <dcterms:created xsi:type="dcterms:W3CDTF">2025-05-17T18:52:09Z</dcterms:created>
  <dcterms:modified xsi:type="dcterms:W3CDTF">2025-05-17T20:55:41Z</dcterms:modified>
</cp:coreProperties>
</file>